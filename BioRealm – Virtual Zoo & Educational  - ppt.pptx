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9" r:id="rId3"/>
    <p:sldId id="257" r:id="rId4"/>
    <p:sldId id="273" r:id="rId5"/>
    <p:sldId id="268" r:id="rId6"/>
    <p:sldId id="274" r:id="rId7"/>
    <p:sldId id="272" r:id="rId8"/>
    <p:sldId id="270" r:id="rId9"/>
    <p:sldId id="265" r:id="rId10"/>
    <p:sldId id="275" r:id="rId11"/>
    <p:sldId id="266" r:id="rId12"/>
    <p:sldId id="278" r:id="rId13"/>
    <p:sldId id="277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244FC07E-327A-F3FB-19B4-71D8FFD75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E927471-5552-89BA-2789-A2C0E35438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9B977F4D-4003-31CC-12F2-8E3899D9C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1023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844351FA-EFDE-AC8C-4B2C-00E54F21D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>
            <a:extLst>
              <a:ext uri="{FF2B5EF4-FFF2-40B4-BE49-F238E27FC236}">
                <a16:creationId xmlns:a16="http://schemas.microsoft.com/office/drawing/2014/main" id="{58E7DD5B-5A7B-617A-A4C7-1D4D63303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>
            <a:extLst>
              <a:ext uri="{FF2B5EF4-FFF2-40B4-BE49-F238E27FC236}">
                <a16:creationId xmlns:a16="http://schemas.microsoft.com/office/drawing/2014/main" id="{F431AD75-BAE1-775E-37CF-73CC74AA80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7088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E247B0EE-11E7-F6EE-2B94-AF34FC0C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>
            <a:extLst>
              <a:ext uri="{FF2B5EF4-FFF2-40B4-BE49-F238E27FC236}">
                <a16:creationId xmlns:a16="http://schemas.microsoft.com/office/drawing/2014/main" id="{7BB7F0BF-7161-3527-7417-8D065C76CC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>
            <a:extLst>
              <a:ext uri="{FF2B5EF4-FFF2-40B4-BE49-F238E27FC236}">
                <a16:creationId xmlns:a16="http://schemas.microsoft.com/office/drawing/2014/main" id="{BBA654A2-8442-A75D-B8FB-6FE1F3F2F1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079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AD3F1664-3684-A556-E4E7-B5FDC3995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>
            <a:extLst>
              <a:ext uri="{FF2B5EF4-FFF2-40B4-BE49-F238E27FC236}">
                <a16:creationId xmlns:a16="http://schemas.microsoft.com/office/drawing/2014/main" id="{A533C223-93E9-0E4D-D4AF-6983850330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>
            <a:extLst>
              <a:ext uri="{FF2B5EF4-FFF2-40B4-BE49-F238E27FC236}">
                <a16:creationId xmlns:a16="http://schemas.microsoft.com/office/drawing/2014/main" id="{DD62D068-8A44-93B6-3208-A1FDC069C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35263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44B7470B-C0E5-BBFF-198F-DF0B4C28A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>
            <a:extLst>
              <a:ext uri="{FF2B5EF4-FFF2-40B4-BE49-F238E27FC236}">
                <a16:creationId xmlns:a16="http://schemas.microsoft.com/office/drawing/2014/main" id="{AED4CA4E-B6B0-CEB9-5AF8-8C1C82AF0F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>
            <a:extLst>
              <a:ext uri="{FF2B5EF4-FFF2-40B4-BE49-F238E27FC236}">
                <a16:creationId xmlns:a16="http://schemas.microsoft.com/office/drawing/2014/main" id="{038A2DC5-B944-3837-B844-325D60BB34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6271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eshamitra03/BioRealm-Virtual-zoo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/>
              <a:t>BioRealm – Virtual Zoo &amp; Educational Platform 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CSE_92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800" dirty="0"/>
              <a:t>Dr. </a:t>
            </a:r>
            <a:r>
              <a:rPr lang="en-IN" sz="1800" dirty="0" err="1"/>
              <a:t>Venkataravana</a:t>
            </a:r>
            <a:r>
              <a:rPr lang="en-IN" sz="1800" dirty="0"/>
              <a:t> Nayak K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805639625"/>
              </p:ext>
            </p:extLst>
          </p:nvPr>
        </p:nvGraphicFramePr>
        <p:xfrm>
          <a:off x="553347" y="2721840"/>
          <a:ext cx="5418675" cy="182885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20221CSE0064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DEESHA MITRA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20221CSE0150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SWARNADEEP DUTTA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" y="4533900"/>
            <a:ext cx="1124712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B.TECH COMPUTER SCIENCE &amp; ENGINEERING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Asif Mohamed H B </a:t>
            </a:r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Jayavadivel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Ravi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IN" dirty="0"/>
              <a:t>Ministry of Environment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Limitations of Traditional Wildlife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EducationEthical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Concerns: Traditional zoos involve captivity, often leading to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Zoochosis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(stress behavior) and ethical debates regarding animal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rights.Accessibility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Barriers: Physical zoos are limited by geography, travel costs, and seasonal weather, making them inaccessible to many students (digital divide).Passive Learning: Traditional documentaries and textbooks offer passive observation rather than active, exploratory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engagement.Safety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Logistics: Physical interaction with wildlife poses safety risks (zoonosis/injury) and high operational costs for maintenance.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Technical &amp; Educational Challenges Addressed</a:t>
            </a:r>
          </a:p>
          <a:p>
            <a:pPr marL="342900" lvl="0" indent="-190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Performance vs. Accessibility:</a:t>
            </a:r>
          </a:p>
          <a:p>
            <a:pPr marL="342900" lvl="0" indent="-190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Challenge: High-quality 3D models lag on web browsers.</a:t>
            </a:r>
          </a:p>
          <a:p>
            <a:pPr marL="342900" lvl="0" indent="-190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Analysis: A balance was needed between visual quality and load times</a:t>
            </a:r>
          </a:p>
          <a:p>
            <a:pPr marL="342900" lvl="0" indent="-190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Pedagogical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Depth:Challenge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"Compassion Fade" occurs when users view animals passively.</a:t>
            </a:r>
          </a:p>
          <a:p>
            <a:pPr marL="342900" lvl="0" indent="-190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Analysis: Active interaction (clicking hotspots, answering questions) is required to retain facts about diets, habitats, and conservation status.</a:t>
            </a:r>
          </a:p>
          <a:p>
            <a:pPr marL="342900" lvl="0" indent="-190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Technological Sustainability:</a:t>
            </a:r>
          </a:p>
          <a:p>
            <a:pPr marL="342900" lvl="0" indent="-190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Challenge: Heavy frameworks (React/Angular) increase complexity and file size.</a:t>
            </a:r>
          </a:p>
          <a:p>
            <a:pPr marL="342900" lvl="0" indent="-190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Analysis: A "Vanilla" (framework-free) approach was chosen to ensure the platform remains lightweight and easy to maintain.</a:t>
            </a:r>
            <a:r>
              <a:rPr lang="en-IN" dirty="0"/>
              <a:t>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Link: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sz="16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Deeshamitra03/BioRealm-Virtual-zoo: An immersive virtual wildlife educational platform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D6CD77D-31E8-E71C-EA4C-EB362A1CE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2932" y="2503424"/>
            <a:ext cx="6411819" cy="343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5A2650E3-A948-6431-CC89-51BAA246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6854D505-F845-ED98-F828-E93722BF4B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and Related Work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EF99B5DE-4B44-BA79-7E64-AE450A22AF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4018280" y="133985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>
            <a:extLst>
              <a:ext uri="{FF2B5EF4-FFF2-40B4-BE49-F238E27FC236}">
                <a16:creationId xmlns:a16="http://schemas.microsoft.com/office/drawing/2014/main" id="{D81DBF6D-95A1-AECB-7D4E-573403C2FBE3}"/>
              </a:ext>
            </a:extLst>
          </p:cNvPr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>
            <a:extLst>
              <a:ext uri="{FF2B5EF4-FFF2-40B4-BE49-F238E27FC236}">
                <a16:creationId xmlns:a16="http://schemas.microsoft.com/office/drawing/2014/main" id="{98D405E6-2D66-57C8-28F7-281C6EC9DA08}"/>
              </a:ext>
            </a:extLst>
          </p:cNvPr>
          <p:cNvSpPr txBox="1">
            <a:spLocks/>
          </p:cNvSpPr>
          <p:nvPr/>
        </p:nvSpPr>
        <p:spPr>
          <a:xfrm>
            <a:off x="965200" y="1635760"/>
            <a:ext cx="10668000" cy="374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7620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Virtual Zoos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Technologies: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Raichurkar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(2025):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Unreal Engine 5. High visual fidelity but required expensive hardware/GPUs.</a:t>
            </a: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Ahmed &amp; Hossain (2020):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Chiriyakhana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Google Cardboard. Good for immersion but required a headset.</a:t>
            </a: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Text/Images: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Accessible but lacks engagement and emotional connection.</a:t>
            </a: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Research Gaps: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Hardware Bottleneck: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High-quality VR usually excludes users with low-end devices.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Models: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existing virtual zoos are just video players; they lack interactive assessment.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Pedagogical Lack: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existing apps focus on visuals but fail to test knowledge retention.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606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Novel Contributions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BioRealm Unique?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WebGL-Based 360° Rendering: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Pannellum.js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map 2D equirectangular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onto a 3D sphere, allowing immersive VR without a headset.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Green/Zero-Cost IT Strategy: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100% Open Source tools (VS Code, Blender, GIMP).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Hosted on GitHub Pages (Zero server cost).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carbon footprint compared to physical tourism.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"Edutainment" Model: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a "Virtual Safari" (exploration) with a logic-based "Ecosystem Quiz" (assessment) in a Single Page Application (SPA).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for Low Bandwidth: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image compression and lazy loading, making high-fidelity education accessible on mobile networks (3G/4G) in rural areas.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799" y="1143000"/>
            <a:ext cx="10027921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Planning &amp; Design (Aug - Sept 2025)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1-2: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identification and topic selection.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3-4: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Literature review and identifying the technical stack.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6-7: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Design (UI Wireframing, Database Schema).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8: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Material Collection (Sourcing 360° images and audio assets).</a:t>
            </a:r>
          </a:p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Implementation &amp; Testing (Oct - Nov 2025)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9-10: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 development (HTML/CSS/Responsive Layouts).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10-11: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Implementation (Integrating Pannellum &amp; Quiz Logic).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13: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Testing (Unit testing, Cross-browser checks, Mobile performance).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14: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Deployment to GitHub Pages and Final Documentation.</a:t>
            </a:r>
          </a:p>
          <a:p>
            <a:pPr marL="342900" lvl="0" indent="-190500">
              <a:spcBef>
                <a:spcPts val="0"/>
              </a:spcBef>
              <a:buSzPct val="100000"/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CF8A77-18C0-6DFA-654C-B99288D3B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1418898"/>
            <a:ext cx="1042416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Raichurkar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S., et al. (2025).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Zoo: Immersive Digital Wildlife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Journal of Advanced Research in Science, Communication and Technology.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Ahmed, T. &amp; Hossain, M.J. (2020).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VR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Chiriyakhana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Virtual Zoo Using Google Cardboard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SN Computer Science.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Sukmawati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F., et al. (2023).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of Virtual Reality Zoos Through IoT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Revue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d'Intelligence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Artificielle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Lugosi, Z. &amp; Lee, P.C. (2021).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Case Study Exploring the Use of Virtual Reality in the Zoo Context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Animal Behavior and 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Pimentel, D. &amp; Kalyanaraman, S. (2022).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effects of embodying wildlife in virtual reality on conservation behaviors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Scientific Reports.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D66D9042-3979-1E37-BC9D-A08E9149D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4;p22">
            <a:extLst>
              <a:ext uri="{FF2B5EF4-FFF2-40B4-BE49-F238E27FC236}">
                <a16:creationId xmlns:a16="http://schemas.microsoft.com/office/drawing/2014/main" id="{C9A489DC-BACF-E608-2703-0C14C269BF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USER INTERFACE – (welcome and animals page)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2B4588-8135-16A5-DD84-3489C517D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40" y="1147665"/>
            <a:ext cx="6632883" cy="3545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3907A1-1741-F3F3-4426-8C49884C4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392" y="3069771"/>
            <a:ext cx="6480648" cy="315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14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19B6895-0D48-3FA9-DFC1-5F97F23CB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429" y="1352939"/>
            <a:ext cx="4571242" cy="46860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52542A-63F3-3A90-7D33-2DDAC2ED8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517" y="1352939"/>
            <a:ext cx="4588468" cy="4610743"/>
          </a:xfrm>
          <a:prstGeom prst="rect">
            <a:avLst/>
          </a:prstGeom>
        </p:spPr>
      </p:pic>
      <p:sp>
        <p:nvSpPr>
          <p:cNvPr id="2" name="Google Shape;144;p22">
            <a:extLst>
              <a:ext uri="{FF2B5EF4-FFF2-40B4-BE49-F238E27FC236}">
                <a16:creationId xmlns:a16="http://schemas.microsoft.com/office/drawing/2014/main" id="{63C9A930-57DF-1C2B-5D1E-D5E689CBD8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USER INTERFACE – (animals details page)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00E60BB2-73FF-F283-CF2F-5AD1F1C39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7AA9AC9-1E40-66D4-FA0A-335C9AD6D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854" y="1520551"/>
            <a:ext cx="4845542" cy="39854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350C12-4D6D-A038-5684-C57D8C66B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76" y="1566122"/>
            <a:ext cx="5686224" cy="3725756"/>
          </a:xfrm>
          <a:prstGeom prst="rect">
            <a:avLst/>
          </a:prstGeom>
        </p:spPr>
      </p:pic>
      <p:sp>
        <p:nvSpPr>
          <p:cNvPr id="2" name="Google Shape;144;p22">
            <a:extLst>
              <a:ext uri="{FF2B5EF4-FFF2-40B4-BE49-F238E27FC236}">
                <a16:creationId xmlns:a16="http://schemas.microsoft.com/office/drawing/2014/main" id="{9C7AC14F-FBFF-E663-60BA-31195705CB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USER INTERFACE – (360 degree safari &amp; quiz page)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289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3CFE90FE-84A9-1346-A6B2-8D4BF5406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C41FBB7-D824-B2E3-139D-616531B5D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144" y="1681747"/>
            <a:ext cx="3792781" cy="38063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9A5D23-E042-F39E-F861-A8D6EF0CA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810" y="1869475"/>
            <a:ext cx="5196843" cy="3618615"/>
          </a:xfrm>
          <a:prstGeom prst="rect">
            <a:avLst/>
          </a:prstGeom>
        </p:spPr>
      </p:pic>
      <p:sp>
        <p:nvSpPr>
          <p:cNvPr id="2" name="Google Shape;144;p22">
            <a:extLst>
              <a:ext uri="{FF2B5EF4-FFF2-40B4-BE49-F238E27FC236}">
                <a16:creationId xmlns:a16="http://schemas.microsoft.com/office/drawing/2014/main" id="{9D0EE723-EE18-2FF9-D51E-443EE756C3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USER INTERFACE – (Quiz summary page)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748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DB56F1D9-C372-25E2-91B8-6E7C709BB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7C9A39-DDFD-9DB2-1C33-6D7D0AB07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504514"/>
      </p:ext>
    </p:extLst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936</Words>
  <Application>Microsoft Office PowerPoint</Application>
  <PresentationFormat>Widescreen</PresentationFormat>
  <Paragraphs>109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Cambria</vt:lpstr>
      <vt:lpstr>Times New Roman</vt:lpstr>
      <vt:lpstr>Verdana</vt:lpstr>
      <vt:lpstr>Wingdings</vt:lpstr>
      <vt:lpstr>Bioinformatics</vt:lpstr>
      <vt:lpstr>BioRealm – Virtual Zoo &amp; Educational Platform </vt:lpstr>
      <vt:lpstr>Problem Statement Number: </vt:lpstr>
      <vt:lpstr>Content</vt:lpstr>
      <vt:lpstr>Analysis of Problem Statement</vt:lpstr>
      <vt:lpstr>Github Link</vt:lpstr>
      <vt:lpstr>Background and Related Work</vt:lpstr>
      <vt:lpstr>Innovation and Novel Contributions</vt:lpstr>
      <vt:lpstr>Timeline of the Project (Gantt Chart)</vt:lpstr>
      <vt:lpstr>References (IEEE Paper format)</vt:lpstr>
      <vt:lpstr>USER INTERFACE – (welcome and animals page)</vt:lpstr>
      <vt:lpstr>USER INTERFACE – (animals details page)</vt:lpstr>
      <vt:lpstr>USER INTERFACE – (360 degree safari &amp; quiz page)</vt:lpstr>
      <vt:lpstr>USER INTERFACE – (Quiz summary page)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deesha.mitra3@outlook.com</cp:lastModifiedBy>
  <cp:revision>43</cp:revision>
  <dcterms:modified xsi:type="dcterms:W3CDTF">2025-12-03T05:55:33Z</dcterms:modified>
</cp:coreProperties>
</file>